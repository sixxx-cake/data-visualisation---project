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0" r:id="rId1"/>
  </p:sldMasterIdLst>
  <p:notesMasterIdLst>
    <p:notesMasterId r:id="rId12"/>
  </p:notesMasterIdLst>
  <p:sldIdLst>
    <p:sldId id="256" r:id="rId2"/>
    <p:sldId id="270" r:id="rId3"/>
    <p:sldId id="271" r:id="rId4"/>
    <p:sldId id="272" r:id="rId5"/>
    <p:sldId id="273" r:id="rId6"/>
    <p:sldId id="274" r:id="rId7"/>
    <p:sldId id="261" r:id="rId8"/>
    <p:sldId id="263" r:id="rId9"/>
    <p:sldId id="268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2A8CC6-6C26-43C5-A698-F2394EF524FF}" v="5" dt="2026-05-26T03:58:39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731" autoAdjust="0"/>
  </p:normalViewPr>
  <p:slideViewPr>
    <p:cSldViewPr snapToGrid="0">
      <p:cViewPr varScale="1">
        <p:scale>
          <a:sx n="61" d="100"/>
          <a:sy n="61" d="100"/>
        </p:scale>
        <p:origin x="43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HILA SRIPRIYADARSHINI GOLLAMUDI" userId="00af1cf9-a92c-4f6a-b084-474dadecd5fc" providerId="ADAL" clId="{FBE8AF5E-7E9E-49EF-820F-33C0432B034B}"/>
    <pc:docChg chg="custSel modSld">
      <pc:chgData name="AKHILA SRIPRIYADARSHINI GOLLAMUDI" userId="00af1cf9-a92c-4f6a-b084-474dadecd5fc" providerId="ADAL" clId="{FBE8AF5E-7E9E-49EF-820F-33C0432B034B}" dt="2026-05-26T03:59:06.542" v="118" actId="27636"/>
      <pc:docMkLst>
        <pc:docMk/>
      </pc:docMkLst>
      <pc:sldChg chg="modSp mod">
        <pc:chgData name="AKHILA SRIPRIYADARSHINI GOLLAMUDI" userId="00af1cf9-a92c-4f6a-b084-474dadecd5fc" providerId="ADAL" clId="{FBE8AF5E-7E9E-49EF-820F-33C0432B034B}" dt="2026-05-26T03:59:06.542" v="118" actId="27636"/>
        <pc:sldMkLst>
          <pc:docMk/>
          <pc:sldMk cId="1285630881" sldId="268"/>
        </pc:sldMkLst>
        <pc:spChg chg="mod">
          <ac:chgData name="AKHILA SRIPRIYADARSHINI GOLLAMUDI" userId="00af1cf9-a92c-4f6a-b084-474dadecd5fc" providerId="ADAL" clId="{FBE8AF5E-7E9E-49EF-820F-33C0432B034B}" dt="2026-05-26T03:59:06.542" v="118" actId="27636"/>
          <ac:spMkLst>
            <pc:docMk/>
            <pc:sldMk cId="1285630881" sldId="268"/>
            <ac:spMk id="3" creationId="{B714E9D9-8579-4E40-9FAF-1188D8A3465B}"/>
          </ac:spMkLst>
        </pc:spChg>
      </pc:sldChg>
      <pc:sldChg chg="addSp modSp mod">
        <pc:chgData name="AKHILA SRIPRIYADARSHINI GOLLAMUDI" userId="00af1cf9-a92c-4f6a-b084-474dadecd5fc" providerId="ADAL" clId="{FBE8AF5E-7E9E-49EF-820F-33C0432B034B}" dt="2026-05-26T03:57:44.789" v="63" actId="1037"/>
        <pc:sldMkLst>
          <pc:docMk/>
          <pc:sldMk cId="4246302821" sldId="274"/>
        </pc:sldMkLst>
        <pc:spChg chg="mod">
          <ac:chgData name="AKHILA SRIPRIYADARSHINI GOLLAMUDI" userId="00af1cf9-a92c-4f6a-b084-474dadecd5fc" providerId="ADAL" clId="{FBE8AF5E-7E9E-49EF-820F-33C0432B034B}" dt="2026-05-26T03:57:31.894" v="55" actId="1076"/>
          <ac:spMkLst>
            <pc:docMk/>
            <pc:sldMk cId="4246302821" sldId="274"/>
            <ac:spMk id="6" creationId="{CC615675-1160-8F98-B2A6-B25FD1428519}"/>
          </ac:spMkLst>
        </pc:spChg>
        <pc:spChg chg="add mod">
          <ac:chgData name="AKHILA SRIPRIYADARSHINI GOLLAMUDI" userId="00af1cf9-a92c-4f6a-b084-474dadecd5fc" providerId="ADAL" clId="{FBE8AF5E-7E9E-49EF-820F-33C0432B034B}" dt="2026-05-26T03:56:48.284" v="43" actId="14100"/>
          <ac:spMkLst>
            <pc:docMk/>
            <pc:sldMk cId="4246302821" sldId="274"/>
            <ac:spMk id="18" creationId="{8F5DC6B6-DF3C-7A8A-002A-244D9CDC901B}"/>
          </ac:spMkLst>
        </pc:spChg>
        <pc:spChg chg="add mod">
          <ac:chgData name="AKHILA SRIPRIYADARSHINI GOLLAMUDI" userId="00af1cf9-a92c-4f6a-b084-474dadecd5fc" providerId="ADAL" clId="{FBE8AF5E-7E9E-49EF-820F-33C0432B034B}" dt="2026-05-26T03:57:00.518" v="47" actId="14100"/>
          <ac:spMkLst>
            <pc:docMk/>
            <pc:sldMk cId="4246302821" sldId="274"/>
            <ac:spMk id="20" creationId="{9B5EE2AA-B79A-A4D1-B2FE-AC546CF7608E}"/>
          </ac:spMkLst>
        </pc:spChg>
        <pc:spChg chg="add mod">
          <ac:chgData name="AKHILA SRIPRIYADARSHINI GOLLAMUDI" userId="00af1cf9-a92c-4f6a-b084-474dadecd5fc" providerId="ADAL" clId="{FBE8AF5E-7E9E-49EF-820F-33C0432B034B}" dt="2026-05-26T03:57:14.524" v="51" actId="1076"/>
          <ac:spMkLst>
            <pc:docMk/>
            <pc:sldMk cId="4246302821" sldId="274"/>
            <ac:spMk id="22" creationId="{0E1D228F-9AF8-639D-B366-7CF6EBA92DDE}"/>
          </ac:spMkLst>
        </pc:spChg>
        <pc:spChg chg="add mod">
          <ac:chgData name="AKHILA SRIPRIYADARSHINI GOLLAMUDI" userId="00af1cf9-a92c-4f6a-b084-474dadecd5fc" providerId="ADAL" clId="{FBE8AF5E-7E9E-49EF-820F-33C0432B034B}" dt="2026-05-26T03:57:44.789" v="63" actId="1037"/>
          <ac:spMkLst>
            <pc:docMk/>
            <pc:sldMk cId="4246302821" sldId="274"/>
            <ac:spMk id="24" creationId="{B0E7B33A-0D17-E42A-05E7-B6598446E320}"/>
          </ac:spMkLst>
        </pc:spChg>
        <pc:picChg chg="add mod">
          <ac:chgData name="AKHILA SRIPRIYADARSHINI GOLLAMUDI" userId="00af1cf9-a92c-4f6a-b084-474dadecd5fc" providerId="ADAL" clId="{FBE8AF5E-7E9E-49EF-820F-33C0432B034B}" dt="2026-05-26T03:55:48.852" v="22" actId="1076"/>
          <ac:picMkLst>
            <pc:docMk/>
            <pc:sldMk cId="4246302821" sldId="274"/>
            <ac:picMk id="8" creationId="{49F7C004-3C41-282F-7EE9-8E72F7F48DF3}"/>
          </ac:picMkLst>
        </pc:picChg>
        <pc:picChg chg="add mod">
          <ac:chgData name="AKHILA SRIPRIYADARSHINI GOLLAMUDI" userId="00af1cf9-a92c-4f6a-b084-474dadecd5fc" providerId="ADAL" clId="{FBE8AF5E-7E9E-49EF-820F-33C0432B034B}" dt="2026-05-26T03:55:46.919" v="21" actId="1076"/>
          <ac:picMkLst>
            <pc:docMk/>
            <pc:sldMk cId="4246302821" sldId="274"/>
            <ac:picMk id="12" creationId="{A5E7BAB3-E175-64AE-E857-8240400AF751}"/>
          </ac:picMkLst>
        </pc:picChg>
        <pc:picChg chg="add mod">
          <ac:chgData name="AKHILA SRIPRIYADARSHINI GOLLAMUDI" userId="00af1cf9-a92c-4f6a-b084-474dadecd5fc" providerId="ADAL" clId="{FBE8AF5E-7E9E-49EF-820F-33C0432B034B}" dt="2026-05-26T03:55:38.725" v="18" actId="1076"/>
          <ac:picMkLst>
            <pc:docMk/>
            <pc:sldMk cId="4246302821" sldId="274"/>
            <ac:picMk id="14" creationId="{B773DB19-52EE-28B4-0D89-C733C4139461}"/>
          </ac:picMkLst>
        </pc:picChg>
        <pc:picChg chg="add mod">
          <ac:chgData name="AKHILA SRIPRIYADARSHINI GOLLAMUDI" userId="00af1cf9-a92c-4f6a-b084-474dadecd5fc" providerId="ADAL" clId="{FBE8AF5E-7E9E-49EF-820F-33C0432B034B}" dt="2026-05-26T03:57:02.555" v="48" actId="1076"/>
          <ac:picMkLst>
            <pc:docMk/>
            <pc:sldMk cId="4246302821" sldId="274"/>
            <ac:picMk id="16" creationId="{BFFB0F37-C1FE-E7EA-4D5F-A946811F4ED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7C7E4E-81A0-458A-A3E7-616D5BB707EC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DD2033-3E51-4E8A-B6FE-7122AE2B9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3492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D2033-3E51-4E8A-B6FE-7122AE2B98AC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4194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524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9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17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68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06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05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132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92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4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5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58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84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xxx-cake/Data-Visualisation---Projec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34A09-6C90-A269-8C57-5C39DEC86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2854"/>
            <a:ext cx="9690339" cy="2416354"/>
          </a:xfrm>
        </p:spPr>
        <p:txBody>
          <a:bodyPr/>
          <a:lstStyle/>
          <a:p>
            <a:r>
              <a:rPr lang="en-AU" b="1" dirty="0">
                <a:latin typeface="Lucida Bright"/>
              </a:rPr>
              <a:t>COS30045 Project Stand Up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92CEB3-446D-D770-1D4E-FA1FC3636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8906"/>
            <a:ext cx="9144000" cy="213021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AU" dirty="0"/>
          </a:p>
          <a:p>
            <a:r>
              <a:rPr lang="en-AU" sz="1800" b="1" dirty="0"/>
              <a:t>Topic: Hospitalised Injuries from Road Crashes in Australia</a:t>
            </a:r>
          </a:p>
          <a:p>
            <a:r>
              <a:rPr lang="en-AU" sz="1800" b="1" dirty="0"/>
              <a:t>By: AKHILA G</a:t>
            </a:r>
          </a:p>
        </p:txBody>
      </p:sp>
    </p:spTree>
    <p:extLst>
      <p:ext uri="{BB962C8B-B14F-4D97-AF65-F5344CB8AC3E}">
        <p14:creationId xmlns:p14="http://schemas.microsoft.com/office/powerpoint/2010/main" val="2587805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D4543"/>
                </a:solidFill>
                <a:latin typeface="+mj-lt"/>
              </a:rPr>
              <a:t>Visualisation Purpose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11247120" cy="0"/>
          </a:xfrm>
          <a:prstGeom prst="line">
            <a:avLst/>
          </a:prstGeom>
          <a:ln w="9525">
            <a:solidFill>
              <a:srgbClr val="C8C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11480" y="1005840"/>
            <a:ext cx="11292840" cy="594360"/>
          </a:xfrm>
          <a:prstGeom prst="rect">
            <a:avLst/>
          </a:prstGeom>
          <a:solidFill>
            <a:srgbClr val="EEF6F8"/>
          </a:solidFill>
          <a:ln>
            <a:solidFill>
              <a:srgbClr val="D0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5C"/>
                </a:solidFill>
              </a:rPr>
              <a:t>Target Audience: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1051560"/>
            <a:ext cx="9052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543"/>
                </a:solidFill>
              </a:rPr>
              <a:t>Policymakers &amp; public health researchers  ·  Road safety organisations  ·  General public &amp; journalists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37360"/>
            <a:ext cx="566928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D0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737360"/>
            <a:ext cx="731520" cy="2240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731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7F8E"/>
                </a:solidFill>
              </a:rPr>
              <a:t>Trends Over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304288"/>
            <a:ext cx="46634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543"/>
                </a:solidFill>
              </a:rPr>
              <a:t>How have hospitalisation numbers for First Nations peoples changed each year from 2011–2021, and how does this compare to non-Indigenous Australians?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737360"/>
            <a:ext cx="566928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D0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737360"/>
            <a:ext cx="731520" cy="2240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737360"/>
            <a:ext cx="731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7F8E"/>
                </a:solidFill>
              </a:rPr>
              <a:t>Age Group Differences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304288"/>
            <a:ext cx="46634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543"/>
                </a:solidFill>
              </a:rPr>
              <a:t>Which age groups have the highest hospitalisations among First Nations peoples — is it young adults (17–25) or other cohorts?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160520"/>
            <a:ext cx="566928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D0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4160520"/>
            <a:ext cx="731520" cy="2240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4160520"/>
            <a:ext cx="731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251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7F8E"/>
                </a:solidFill>
              </a:rPr>
              <a:t>Location &amp; Remoteness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727448"/>
            <a:ext cx="46634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543"/>
                </a:solidFill>
              </a:rPr>
              <a:t>Do patterns differ between Major Cities, Regional, and Remote areas for First Nations peoples?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4160520"/>
            <a:ext cx="566928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D0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4160520"/>
            <a:ext cx="731520" cy="2240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4160520"/>
            <a:ext cx="731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251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7F8E"/>
                </a:solidFill>
              </a:rPr>
              <a:t>Road User 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727448"/>
            <a:ext cx="46634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543"/>
                </a:solidFill>
              </a:rPr>
              <a:t>Which road users (car occupants, motorcyclists, pedestrians) are most often hospitalised, and has this changed over 11 years?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 err="1">
                <a:solidFill>
                  <a:srgbClr val="3D4543"/>
                </a:solidFill>
                <a:latin typeface="+mj-lt"/>
              </a:rPr>
              <a:t>Visualisation</a:t>
            </a:r>
            <a:r>
              <a:rPr sz="2800" b="1" i="0" dirty="0">
                <a:solidFill>
                  <a:srgbClr val="3D4543"/>
                </a:solidFill>
                <a:latin typeface="+mj-lt"/>
              </a:rPr>
              <a:t> Design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11247120" cy="0"/>
          </a:xfrm>
          <a:prstGeom prst="line">
            <a:avLst/>
          </a:prstGeom>
          <a:ln w="9525">
            <a:solidFill>
              <a:srgbClr val="C8C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5C"/>
                </a:solidFill>
              </a:rPr>
              <a:t>Chart Types Chosen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81328"/>
            <a:ext cx="54864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0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09728" cy="1170432"/>
          </a:xfrm>
          <a:prstGeom prst="rect">
            <a:avLst/>
          </a:prstGeom>
          <a:solidFill>
            <a:srgbClr val="1B7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38528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B6E"/>
                </a:solidFill>
              </a:rPr>
              <a:t>Trends 2011–2021. Two lines (First Nations vs non-Indigenous) — gap communicates disparity directly.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779776"/>
            <a:ext cx="54864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0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2779776"/>
            <a:ext cx="109728" cy="117043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28529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Grouped Bar 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236976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B6E"/>
                </a:solidFill>
              </a:rPr>
              <a:t>Age group &amp; road user breakdowns — ordinal categories, not continuous. Direct side-by-side comparison.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078224"/>
            <a:ext cx="54864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0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" y="4078224"/>
            <a:ext cx="109728" cy="1170432"/>
          </a:xfrm>
          <a:prstGeom prst="rect">
            <a:avLst/>
          </a:prstGeom>
          <a:solidFill>
            <a:srgbClr val="1B7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415137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Horizontal Bar 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535424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B6E"/>
                </a:solidFill>
              </a:rPr>
              <a:t>Remoteness — long labels read better on a horizontal axis.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376672"/>
            <a:ext cx="54864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0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5376672"/>
            <a:ext cx="109728" cy="117043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544982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Stacked Bar Chart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833872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B6E"/>
                </a:solidFill>
              </a:rPr>
              <a:t>Road user share by year — shows both total count and composition without misleading pie slices.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5C"/>
                </a:solidFill>
              </a:rPr>
              <a:t>Design Principles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481328"/>
            <a:ext cx="54864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0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1481328"/>
            <a:ext cx="109728" cy="1170432"/>
          </a:xfrm>
          <a:prstGeom prst="rect">
            <a:avLst/>
          </a:prstGeom>
          <a:solidFill>
            <a:srgbClr val="1B7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Graphical Integrity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938528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B6E"/>
                </a:solidFill>
              </a:rPr>
              <a:t>Axes start at zero. Each chart notes counts are not population-normalised — NT vs VIC comparisons can otherwise mislead.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2779776"/>
            <a:ext cx="54864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0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2779776"/>
            <a:ext cx="109728" cy="117043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2512" y="28529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Accessibility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3236976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B6E"/>
                </a:solidFill>
              </a:rPr>
              <a:t>Navy/amber palette (colourblind-safe, avoids red/green). Body text ≥14pt. WCAG AA contrast standards met.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078224"/>
            <a:ext cx="54864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0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72200" y="4078224"/>
            <a:ext cx="109728" cy="1170432"/>
          </a:xfrm>
          <a:prstGeom prst="rect">
            <a:avLst/>
          </a:prstGeom>
          <a:solidFill>
            <a:srgbClr val="E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415137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Cultural Sensitivity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535424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B6E"/>
                </a:solidFill>
              </a:rPr>
              <a:t>First Nations data presented respectfully — no deficit framing. Follows AIHW Indigenous data guidelines.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400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</a:rPr>
              <a:t>Draft colour palette (colourblind-safe):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6355080"/>
            <a:ext cx="155448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120640" y="664768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B6E"/>
                </a:solidFill>
              </a:rPr>
              <a:t>Navy / First Nations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6355080"/>
            <a:ext cx="1554480" cy="274320"/>
          </a:xfrm>
          <a:prstGeom prst="rect">
            <a:avLst/>
          </a:prstGeom>
          <a:solidFill>
            <a:srgbClr val="E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03720" y="664768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B6E"/>
                </a:solidFill>
              </a:rPr>
              <a:t>Amber / Non-Indigenous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6355080"/>
            <a:ext cx="1554480" cy="274320"/>
          </a:xfrm>
          <a:prstGeom prst="rect">
            <a:avLst/>
          </a:prstGeom>
          <a:solidFill>
            <a:srgbClr val="1B7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0" y="664768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B6E"/>
                </a:solidFill>
              </a:rPr>
              <a:t>Teal / Accent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69880" y="6355080"/>
            <a:ext cx="1554480" cy="274320"/>
          </a:xfrm>
          <a:prstGeom prst="rect">
            <a:avLst/>
          </a:prstGeom>
          <a:solidFill>
            <a:srgbClr val="4A6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469880" y="664768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B6E"/>
                </a:solidFill>
              </a:rPr>
              <a:t>Slate / Grid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57B799-9CFF-98B5-C096-5CA2F693FA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57217"/>
            <a:ext cx="2743200" cy="365125"/>
          </a:xfrm>
        </p:spPr>
        <p:txBody>
          <a:bodyPr/>
          <a:lstStyle/>
          <a:p>
            <a:fld id="{90DB2C03-4137-4B38-B6B8-08071C41D51A}" type="datetime1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61E125-EEFB-8675-D2AD-B7AD186E7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D5D61-2038-DA10-C2E9-D63A150E0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C5A333-BA03-3D25-7EA9-7E1E5CADD43E}"/>
              </a:ext>
            </a:extLst>
          </p:cNvPr>
          <p:cNvSpPr txBox="1"/>
          <p:nvPr/>
        </p:nvSpPr>
        <p:spPr>
          <a:xfrm>
            <a:off x="457200" y="182880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b="1" i="0" dirty="0">
                <a:solidFill>
                  <a:srgbClr val="3D4543"/>
                </a:solidFill>
                <a:latin typeface="+mj-lt"/>
              </a:rPr>
              <a:t>Interaction</a:t>
            </a:r>
            <a:r>
              <a:rPr sz="2800" b="1" i="0" dirty="0">
                <a:solidFill>
                  <a:srgbClr val="3D4543"/>
                </a:solidFill>
                <a:latin typeface="+mj-lt"/>
              </a:rPr>
              <a:t> Design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1FC9F68-0C9D-037E-BD07-BA45DF65D49B}"/>
              </a:ext>
            </a:extLst>
          </p:cNvPr>
          <p:cNvSpPr txBox="1">
            <a:spLocks/>
          </p:cNvSpPr>
          <p:nvPr/>
        </p:nvSpPr>
        <p:spPr>
          <a:xfrm>
            <a:off x="318395" y="1047125"/>
            <a:ext cx="11555209" cy="49681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b="1" dirty="0"/>
              <a:t>Toggle buttons</a:t>
            </a:r>
            <a:r>
              <a:rPr lang="en-AU" dirty="0"/>
              <a:t> - filter by Indigenous status (All / First Nations / Non-Indigenous) → all charts update at once </a:t>
            </a:r>
          </a:p>
          <a:p>
            <a:r>
              <a:rPr lang="en-AU" b="1" dirty="0"/>
              <a:t>Checkboxes</a:t>
            </a:r>
            <a:r>
              <a:rPr lang="en-AU" dirty="0"/>
              <a:t> - filter by road user type → line chart shows/hides selected series </a:t>
            </a:r>
          </a:p>
          <a:p>
            <a:r>
              <a:rPr lang="en-AU" b="1" dirty="0"/>
              <a:t>Year slider</a:t>
            </a:r>
            <a:r>
              <a:rPr lang="en-AU" dirty="0"/>
              <a:t> - drag to select year 2011–2021 → stacked bar chart updates </a:t>
            </a:r>
          </a:p>
          <a:p>
            <a:r>
              <a:rPr lang="en-AU" b="1" dirty="0"/>
              <a:t>Hover tooltips</a:t>
            </a:r>
            <a:r>
              <a:rPr lang="en-AU" dirty="0"/>
              <a:t> - on every chart → shows group name, year, exact count </a:t>
            </a:r>
          </a:p>
          <a:p>
            <a:r>
              <a:rPr lang="en-AU" b="1" dirty="0"/>
              <a:t>Click to highlight</a:t>
            </a:r>
            <a:r>
              <a:rPr lang="en-AU" dirty="0"/>
              <a:t> - click a line on the line chart → other line fades to low opacity </a:t>
            </a:r>
          </a:p>
          <a:p>
            <a:r>
              <a:rPr lang="en-AU" b="1" dirty="0"/>
              <a:t>Smooth transitions</a:t>
            </a:r>
            <a:r>
              <a:rPr lang="en-AU" dirty="0"/>
              <a:t> - 300ms ease animation so users can see what changed</a:t>
            </a:r>
            <a:endParaRPr lang="zh-CN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B7A66AA-DF3F-813F-ABD4-ED6B8967B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880433"/>
              </p:ext>
            </p:extLst>
          </p:nvPr>
        </p:nvGraphicFramePr>
        <p:xfrm>
          <a:off x="528516" y="4152816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90577819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65061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User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System 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719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Click “First Nations only”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All charts redraw for that group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522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Drag the year slider to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Stacked bar updates to 2021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79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Hovers over a 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Tooltip shows exact 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314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934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EF338-3CBE-92CB-930F-AFB268A95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B61A6B-C256-AD95-1B68-E2EE6044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57217"/>
            <a:ext cx="2743200" cy="365125"/>
          </a:xfrm>
        </p:spPr>
        <p:txBody>
          <a:bodyPr/>
          <a:lstStyle/>
          <a:p>
            <a:fld id="{90DB2C03-4137-4B38-B6B8-08071C41D51A}" type="datetime1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DCC02C-F6F0-C554-E63F-B13D28E44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ABE5A-5D60-E315-5776-602609917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0D6BB-BD1B-7B65-F90F-45990C6A4BDC}"/>
              </a:ext>
            </a:extLst>
          </p:cNvPr>
          <p:cNvSpPr txBox="1"/>
          <p:nvPr/>
        </p:nvSpPr>
        <p:spPr>
          <a:xfrm>
            <a:off x="457200" y="182880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b="1" i="0" dirty="0">
                <a:solidFill>
                  <a:srgbClr val="3D4543"/>
                </a:solidFill>
                <a:latin typeface="+mj-lt"/>
              </a:rPr>
              <a:t>Website</a:t>
            </a:r>
            <a:r>
              <a:rPr sz="2800" b="1" i="0" dirty="0">
                <a:solidFill>
                  <a:srgbClr val="3D4543"/>
                </a:solidFill>
                <a:latin typeface="+mj-lt"/>
              </a:rPr>
              <a:t> Design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F05B544-7FFE-CE4B-3DE7-7D50E007BE60}"/>
              </a:ext>
            </a:extLst>
          </p:cNvPr>
          <p:cNvSpPr txBox="1">
            <a:spLocks/>
          </p:cNvSpPr>
          <p:nvPr/>
        </p:nvSpPr>
        <p:spPr>
          <a:xfrm>
            <a:off x="318395" y="1047125"/>
            <a:ext cx="11555209" cy="49681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b="1" dirty="0"/>
              <a:t>Layout:</a:t>
            </a:r>
            <a:r>
              <a:rPr lang="en-AU" dirty="0"/>
              <a:t> Single-page scrolling website, fixed nav bar at top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r>
              <a:rPr lang="en-AU" b="1" dirty="0"/>
              <a:t>Page sections (top to bottom):</a:t>
            </a:r>
            <a:endParaRPr lang="en-AU" dirty="0"/>
          </a:p>
          <a:p>
            <a:r>
              <a:rPr lang="en-AU" dirty="0"/>
              <a:t>Fixed Nav Bar - title left, links right: Introduction | Trends | Breakdown | About</a:t>
            </a:r>
          </a:p>
          <a:p>
            <a:r>
              <a:rPr lang="en-AU" dirty="0"/>
              <a:t>Hero Section - 3 key stat callouts: ~45,000/yr , 3× higher rate , 90% increase</a:t>
            </a:r>
          </a:p>
          <a:p>
            <a:r>
              <a:rPr lang="en-AU" dirty="0"/>
              <a:t>Trends Section - full-width line chart + filter controls above</a:t>
            </a:r>
          </a:p>
          <a:p>
            <a:r>
              <a:rPr lang="en-AU" dirty="0"/>
              <a:t>Breakdown Section - grouped bar (age) + horizontal bar (remoteness) side by side</a:t>
            </a:r>
          </a:p>
          <a:p>
            <a:r>
              <a:rPr lang="en-AU" dirty="0"/>
              <a:t>Road User Section - stacked bar + year slider</a:t>
            </a:r>
          </a:p>
          <a:p>
            <a:r>
              <a:rPr lang="en-AU" dirty="0"/>
              <a:t>Footer - BITRE credit, team name, unit code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b="1" dirty="0"/>
              <a:t>Design rationale:</a:t>
            </a:r>
            <a:r>
              <a:rPr lang="en-AU" dirty="0"/>
              <a:t> Single-page keeps users on a linear story. No clicking between pages so it reduces confusion for general audience.</a:t>
            </a:r>
          </a:p>
          <a:p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4A8B92-780D-68DB-9E8A-68AB1AD59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201" y="842676"/>
            <a:ext cx="5881614" cy="13578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89A5FC-C1CF-1630-A1D1-6D4BAFCFA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781" y="2404938"/>
            <a:ext cx="2836619" cy="135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77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2DC4E-44BA-3206-AAA9-A87BDA750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C5E3C2-E366-0F99-BAE0-E43F2B87AF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57217"/>
            <a:ext cx="2743200" cy="365125"/>
          </a:xfrm>
        </p:spPr>
        <p:txBody>
          <a:bodyPr/>
          <a:lstStyle/>
          <a:p>
            <a:fld id="{90DB2C03-4137-4B38-B6B8-08071C41D51A}" type="datetime1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861CA4-70B5-D1A3-B388-382B9000C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76CE0-1EA2-F783-2D8F-6DAFAF4D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84AFFC-00EA-6DE3-C3C9-88DFDAE95DB7}"/>
              </a:ext>
            </a:extLst>
          </p:cNvPr>
          <p:cNvSpPr txBox="1"/>
          <p:nvPr/>
        </p:nvSpPr>
        <p:spPr>
          <a:xfrm>
            <a:off x="457200" y="182880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b="1" dirty="0">
                <a:solidFill>
                  <a:srgbClr val="3D4543"/>
                </a:solidFill>
                <a:latin typeface="+mj-lt"/>
              </a:rPr>
              <a:t>Sketches – Prototypes &amp; Wireframes</a:t>
            </a:r>
            <a:endParaRPr sz="2800" b="1" i="0" dirty="0">
              <a:solidFill>
                <a:srgbClr val="3D4543"/>
              </a:solidFill>
              <a:latin typeface="+mj-lt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C615675-1160-8F98-B2A6-B25FD1428519}"/>
              </a:ext>
            </a:extLst>
          </p:cNvPr>
          <p:cNvSpPr txBox="1">
            <a:spLocks/>
          </p:cNvSpPr>
          <p:nvPr/>
        </p:nvSpPr>
        <p:spPr>
          <a:xfrm>
            <a:off x="318395" y="686972"/>
            <a:ext cx="11555209" cy="49681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b="1" dirty="0"/>
              <a:t>Wireframes see below:</a:t>
            </a:r>
            <a:r>
              <a:rPr lang="en-AU" dirty="0"/>
              <a:t> created in Figma - showing page layout and individual chart designs</a:t>
            </a:r>
            <a:endParaRPr lang="en-AU" b="1" dirty="0"/>
          </a:p>
          <a:p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F7C004-3C41-282F-7EE9-8E72F7F48D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04" y="1527772"/>
            <a:ext cx="2423808" cy="52546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E7BAB3-E175-64AE-E857-8240400AF7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388" y="1527772"/>
            <a:ext cx="2480088" cy="23722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73DB19-52EE-28B4-0D89-C733C41394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5629" y="1560915"/>
            <a:ext cx="2623354" cy="34183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FFB0F37-C1FE-E7EA-4D5F-A946811F4E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8136" y="1527772"/>
            <a:ext cx="2636175" cy="388933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F5DC6B6-DF3C-7A8A-002A-244D9CDC901B}"/>
              </a:ext>
            </a:extLst>
          </p:cNvPr>
          <p:cNvSpPr txBox="1"/>
          <p:nvPr/>
        </p:nvSpPr>
        <p:spPr>
          <a:xfrm>
            <a:off x="3331812" y="3885877"/>
            <a:ext cx="25646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Frame 2 - Line Chart Close Up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5EE2AA-B79A-A4D1-B2FE-AC546CF7608E}"/>
              </a:ext>
            </a:extLst>
          </p:cNvPr>
          <p:cNvSpPr txBox="1"/>
          <p:nvPr/>
        </p:nvSpPr>
        <p:spPr>
          <a:xfrm>
            <a:off x="5955166" y="4989712"/>
            <a:ext cx="2733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Frame 3 - Breakdown Section Close Up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1D228F-9AF8-639D-B366-7CF6EBA92DDE}"/>
              </a:ext>
            </a:extLst>
          </p:cNvPr>
          <p:cNvSpPr txBox="1"/>
          <p:nvPr/>
        </p:nvSpPr>
        <p:spPr>
          <a:xfrm>
            <a:off x="8858136" y="5429385"/>
            <a:ext cx="27400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Frame 4 -Stacked Bar + Slider Close Up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E7B33A-0D17-E42A-05E7-B6598446E320}"/>
              </a:ext>
            </a:extLst>
          </p:cNvPr>
          <p:cNvSpPr txBox="1"/>
          <p:nvPr/>
        </p:nvSpPr>
        <p:spPr>
          <a:xfrm>
            <a:off x="748272" y="1164704"/>
            <a:ext cx="284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Frame 1 - Full Page Layout</a:t>
            </a:r>
          </a:p>
        </p:txBody>
      </p:sp>
    </p:spTree>
    <p:extLst>
      <p:ext uri="{BB962C8B-B14F-4D97-AF65-F5344CB8AC3E}">
        <p14:creationId xmlns:p14="http://schemas.microsoft.com/office/powerpoint/2010/main" val="4246302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B74CC2-B80D-7427-2C23-220E7F488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297" y="545113"/>
            <a:ext cx="9673407" cy="719589"/>
          </a:xfrm>
        </p:spPr>
        <p:txBody>
          <a:bodyPr/>
          <a:lstStyle/>
          <a:p>
            <a:pPr algn="ctr"/>
            <a:r>
              <a:rPr lang="zh-CN" altLang="en-US" b="1" dirty="0">
                <a:latin typeface="Lucida Bright"/>
              </a:rPr>
              <a:t>Data Processing – KNIME Workflow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8305F6-9DE6-AC0E-68A6-F2AE16A7B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388C9-D192-4DCF-94B2-D7750F99240D}" type="datetime1">
              <a:rPr lang="en-US"/>
              <a:t>5/26/2026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C8DBDB-63EF-F1F3-76C9-DBFC17EC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27866F-6D23-2D53-7E0C-6CD328842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7</a:t>
            </a:fld>
            <a:endParaRPr lang="en-US"/>
          </a:p>
        </p:txBody>
      </p:sp>
      <p:pic>
        <p:nvPicPr>
          <p:cNvPr id="7" name="图片 6" descr="图表, 图示&#10;&#10;AI 生成的内容可能不正确。">
            <a:extLst>
              <a:ext uri="{FF2B5EF4-FFF2-40B4-BE49-F238E27FC236}">
                <a16:creationId xmlns:a16="http://schemas.microsoft.com/office/drawing/2014/main" id="{C53D7BFE-1B61-BAE6-C3D1-BFE4D9013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3" y="1710645"/>
            <a:ext cx="1039177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34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75603-6AAC-B6F4-6C48-B930FC947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122236"/>
            <a:ext cx="10449784" cy="1265928"/>
          </a:xfrm>
        </p:spPr>
        <p:txBody>
          <a:bodyPr/>
          <a:lstStyle/>
          <a:p>
            <a:pPr algn="ctr"/>
            <a:r>
              <a:rPr lang="zh-CN" altLang="en-US" b="1">
                <a:latin typeface="Lucida Bright"/>
              </a:rPr>
              <a:t>Next Steps</a:t>
            </a:r>
            <a:endParaRPr lang="zh-CN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8E4D72-9DA0-EDE5-2774-5CB178D2B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968" y="2157985"/>
            <a:ext cx="11180256" cy="30692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AU" sz="2400" dirty="0"/>
              <a:t>Finalise CSV exports from KNIME for D3 input (trends, age, remoteness, road user)</a:t>
            </a:r>
          </a:p>
          <a:p>
            <a:r>
              <a:rPr lang="en-AU" sz="2400" dirty="0"/>
              <a:t>Begin D3.js scaffolding: load data, set up SVG containers, shared colour constants</a:t>
            </a:r>
          </a:p>
          <a:p>
            <a:r>
              <a:rPr lang="en-AU" sz="2400" dirty="0"/>
              <a:t>Build line chart component first (trends view) - highest priority </a:t>
            </a:r>
          </a:p>
          <a:p>
            <a:r>
              <a:rPr lang="en-AU" sz="2400" dirty="0"/>
              <a:t>Simultaneously complete Figma wireframes for all 4 chart sections</a:t>
            </a:r>
            <a:endParaRPr lang="zh-CN" altLang="en-US" sz="2400" dirty="0">
              <a:latin typeface="Lucida Bright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DE861C-3CC4-3670-A7D7-B2ED1EBC4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85870-E2A7-4907-B2D0-67CB91C46252}" type="datetime1">
              <a:rPr lang="en-US"/>
              <a:t>5/26/2026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230A46-1E6E-68D8-C332-3CE70F427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1F913A-C134-6A9F-FC05-91596B22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419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69238D-2D9E-3C38-3A69-579B28F0A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1013" y="491482"/>
            <a:ext cx="7099404" cy="770024"/>
          </a:xfrm>
        </p:spPr>
        <p:txBody>
          <a:bodyPr/>
          <a:lstStyle/>
          <a:p>
            <a:pPr algn="ctr"/>
            <a:r>
              <a:rPr lang="zh-CN" altLang="en-US" b="1" dirty="0">
                <a:latin typeface="Lucida Bright"/>
              </a:rPr>
              <a:t>Work In Progress</a:t>
            </a:r>
            <a:endParaRPr 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14E9D9-8579-4E40-9FAF-1188D8A34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270409"/>
            <a:ext cx="10010383" cy="5085941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buNone/>
            </a:pPr>
            <a:r>
              <a:rPr lang="en-AU" sz="2800" b="1" dirty="0"/>
              <a:t>Completed: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dirty="0"/>
              <a:t>KNIME workflow built - data cleaned, reshaped, aggregated (on GitHub)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dirty="0"/>
              <a:t>Design Book drafted - all sections written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dirty="0"/>
              <a:t>Visualisation design decided - 4 chart types confirmed with justification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dirty="0"/>
              <a:t>Colour palette finalised (navy/amber, colourblind-safe)</a:t>
            </a:r>
          </a:p>
          <a:p>
            <a:pPr marL="0" indent="0">
              <a:buNone/>
            </a:pPr>
            <a:endParaRPr lang="en-AU" sz="2800" dirty="0"/>
          </a:p>
          <a:p>
            <a:pPr>
              <a:buNone/>
            </a:pPr>
            <a:r>
              <a:rPr lang="en-AU" sz="2800" b="1" dirty="0"/>
              <a:t>In Progress:</a:t>
            </a:r>
            <a:endParaRPr lang="en-AU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800" dirty="0"/>
              <a:t>Wireframe sketches (Figma)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dirty="0"/>
              <a:t>D3.js setup and first chart build</a:t>
            </a:r>
          </a:p>
          <a:p>
            <a:pPr>
              <a:buFont typeface="Arial" panose="020B0604020202020204" pitchFamily="34" charset="0"/>
              <a:buChar char="•"/>
            </a:pPr>
            <a:endParaRPr lang="en-AU" sz="2800" dirty="0"/>
          </a:p>
          <a:p>
            <a:pPr marL="0" indent="0">
              <a:buNone/>
            </a:pPr>
            <a:r>
              <a:rPr lang="en-AU" sz="2800" b="1" dirty="0"/>
              <a:t>GitHub Link</a:t>
            </a:r>
            <a:endParaRPr lang="en-AU" sz="2800" dirty="0"/>
          </a:p>
          <a:p>
            <a:r>
              <a:rPr lang="en-AU" sz="2800" dirty="0">
                <a:hlinkClick r:id="rId2"/>
              </a:rPr>
              <a:t>https://github.com/Sixxx-cake/Data-Visualisation---Project</a:t>
            </a:r>
            <a:endParaRPr lang="en-AU" sz="2800" dirty="0"/>
          </a:p>
          <a:p>
            <a:endParaRPr lang="en-AU" sz="2800" dirty="0"/>
          </a:p>
          <a:p>
            <a:pPr>
              <a:buFont typeface="Arial" panose="020B0604020202020204" pitchFamily="34" charset="0"/>
              <a:buChar char="•"/>
            </a:pPr>
            <a:endParaRPr lang="en-AU" sz="2800" dirty="0"/>
          </a:p>
          <a:p>
            <a:pPr marL="0" indent="0">
              <a:buNone/>
            </a:pPr>
            <a:endParaRPr lang="en-AU" sz="2800" dirty="0"/>
          </a:p>
          <a:p>
            <a:pPr marL="285750" indent="-285750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445CE6-642C-89E7-8F4D-860404B99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D2E2A-38D5-4834-AA24-CB8F53551221}" type="datetime1">
              <a:rPr lang="en-US"/>
              <a:t>5/26/2026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CED9A4-56B6-67E9-B343-BEB371DAD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535BE3-A9BC-5D4B-31EC-86D2D299F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30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68056B-456C-E569-FA85-0B0316641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5712" y="2638023"/>
            <a:ext cx="9180576" cy="15819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8000" b="1" dirty="0">
                <a:latin typeface="Lucida Bright"/>
              </a:rPr>
              <a:t>Thank you</a:t>
            </a:r>
            <a:r>
              <a:rPr lang="en-AU" altLang="zh-CN" sz="8000" b="1" dirty="0">
                <a:latin typeface="Lucida Bright"/>
              </a:rPr>
              <a:t>!</a:t>
            </a:r>
            <a:endParaRPr lang="zh-CN" altLang="en-US" sz="8000" b="1" dirty="0">
              <a:latin typeface="Lucida Bright"/>
            </a:endParaRPr>
          </a:p>
          <a:p>
            <a:pPr marL="0" indent="0" algn="ctr">
              <a:buNone/>
            </a:pPr>
            <a:endParaRPr lang="zh-CN" altLang="en-US" sz="8000" b="1" dirty="0">
              <a:latin typeface="Lucida Bright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A453F7-E612-198B-BF0B-78E49263C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4B5BE-5128-455C-AFA0-C5C16293ABE9}" type="datetime1">
              <a:rPr lang="en-US"/>
              <a:t>5/26/2026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507DAB-D7B1-EC82-12E3-D2A091E0F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DB4F6A-B3BC-E53A-97F6-F7DC29E42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05281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f7f7579-3e9c-4a7e-b844-420280f53859}" enabled="0" method="" siteId="{df7f7579-3e9c-4a7e-b844-420280f5385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StandUp1 ppt v2 (1)</Template>
  <TotalTime>92</TotalTime>
  <Words>830</Words>
  <Application>Microsoft Office PowerPoint</Application>
  <PresentationFormat>Widescreen</PresentationFormat>
  <Paragraphs>118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Light</vt:lpstr>
      <vt:lpstr>Arial</vt:lpstr>
      <vt:lpstr>Lucida Bright</vt:lpstr>
      <vt:lpstr>Walbaum Display</vt:lpstr>
      <vt:lpstr>BohoVogueVTI</vt:lpstr>
      <vt:lpstr>COS30045 Project Stand Up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Processing – KNIME Workflow</vt:lpstr>
      <vt:lpstr>Next Steps</vt:lpstr>
      <vt:lpstr>Work In Progress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AKHILA SRIPRIYADARSHINI GOLLAMUDI</dc:creator>
  <cp:lastModifiedBy>AKHILA SRIPRIYADARSHINI GOLLAMUDI</cp:lastModifiedBy>
  <cp:revision>1</cp:revision>
  <dcterms:created xsi:type="dcterms:W3CDTF">2026-05-26T02:26:24Z</dcterms:created>
  <dcterms:modified xsi:type="dcterms:W3CDTF">2026-05-26T03:59:15Z</dcterms:modified>
</cp:coreProperties>
</file>